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25d3caeccc41c8" /><Relationship Type="http://schemas.openxmlformats.org/officeDocument/2006/relationships/extended-properties" Target="/docProps/app.xml" Id="Raa0f51684ba2422d" /><Relationship Type="http://schemas.openxmlformats.org/officeDocument/2006/relationships/officeDocument" Target="/ppt/presentation.xml" Id="Rc801cbadec274c23" /></Relationships>
</file>

<file path=ppt/presentation.xml><?xml version="1.0" encoding="utf-8"?>
<p:presentation xmlns:p="http://schemas.openxmlformats.org/presentationml/2006/main">
  <p:sldMasterIdLst>
    <p:sldMasterId xmlns:r="http://schemas.openxmlformats.org/officeDocument/2006/relationships" id="2147483648" r:id="Re73478f4dbb74b8a"/>
  </p:sldMasterIdLst>
  <p:notesMasterIdLst>
    <p:notesMasterId xmlns:r="http://schemas.openxmlformats.org/officeDocument/2006/relationships" r:id="R6448aa4387614b7c"/>
  </p:notesMasterIdLst>
  <p:sldIdLst>
    <p:sldId xmlns:r="http://schemas.openxmlformats.org/officeDocument/2006/relationships" id="256" r:id="R22770c07f28346c2"/>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175657675246b2" /><Relationship Type="http://schemas.openxmlformats.org/officeDocument/2006/relationships/slideMaster" Target="/ppt/slideMasters/slideMaster1.xml" Id="Re73478f4dbb74b8a" /><Relationship Type="http://schemas.openxmlformats.org/officeDocument/2006/relationships/notesMaster" Target="/ppt/notesMasters/notesMaster1.xml" Id="R6448aa4387614b7c" /><Relationship Type="http://schemas.openxmlformats.org/officeDocument/2006/relationships/presProps" Target="/ppt/presProps.xml" Id="R7365b83395e94cf0" /><Relationship Type="http://schemas.openxmlformats.org/officeDocument/2006/relationships/tableStyles" Target="/ppt/tableStyles.xml" Id="Rbc1e472dbb614cd7" /><Relationship Type="http://schemas.openxmlformats.org/officeDocument/2006/relationships/slide" Target="/ppt/slides/slide1.xml" Id="R22770c07f28346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b642d8163e4f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7a2044031540ae" /><Relationship Type="http://schemas.openxmlformats.org/officeDocument/2006/relationships/notesMaster" Target="/ppt/notesMasters/notesMaster1.xml" Id="R9fbd433fb00e49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NEXABio student recruitment draft. US Letter portrait. The selected polymer-loop logo, student collaboration illustration, and QR are separate images; body text remains editable.</a:t>
            </a:r>
          </a:p>
          <a:p xmlns:a="http://schemas.openxmlformats.org/drawingml/2006/main">
            <a:r>
              <a:t>Content: supplied NSF_CyberTraining.pdf and content/program.json. The original proposal is private and is not included in this repository.</a:t>
            </a:r>
          </a:p>
          <a:p xmlns:a="http://schemas.openxmlformats.org/drawingml/2006/main">
            <a:r>
              <a:t>Project team: Yunhui Guo (Computer Science) and Yongsheng Gao (Bioengineering)</a:t>
            </a:r>
          </a:p>
          <a:p xmlns:a="http://schemas.openxmlformats.org/drawingml/2006/main">
            <a:r>
              <a:t>The project owner confirmed that students with successful, confirmed program registration will receive compensation. The amount and payment details have not been specified. Dates, eligibility, and formal funding acknowledgment remain unconfirmed; the interest form is not enrollment confirmation.</a:t>
            </a:r>
          </a:p>
          <a:p xmlns:a="http://schemas.openxmlformats.org/drawingml/2006/main">
            <a:r>
              <a:t>Form: https://forms.gle/13iPUM7vkB7HX4tK8</a:t>
            </a:r>
          </a:p>
          <a:p xmlns:a="http://schemas.openxmlformats.org/drawingml/2006/main">
            <a:r>
              <a:t>Brand: user-selected concept B, polymer loops. Logo source and usage: public/brand/README.md.</a:t>
            </a:r>
          </a:p>
          <a:p xmlns:a="http://schemas.openxmlformats.org/drawingml/2006/main">
            <a:r>
              <a:t>Editing instructions: poster/README.md. Changing the target form requires regenerating and replacing the QR image.</a:t>
            </a:r>
          </a:p>
          <a:p xmlns:a="http://schemas.openxmlformats.org/drawingml/2006/main">
            <a:r>
              <a:t>Illustration: three fictional students collaborating on AI and biomaterials, selected by the project owner. Generated with the built-in imagegen tool on September 18, 2026. Original PNG shared with the website: public/images/student-collaboration.png. Exact prompt: public/images/student-collaboration-prompt.txt. Provenance: public/images/README.md. This is an illustration, not a photograph of actual participants or faculty.</a:t>
            </a:r>
          </a:p>
          <a:p xmlns:a="http://schemas.openxmlformats.org/drawingml/2006/main">
            <a:r>
              <a:t/>
            </a:r>
          </a:p>
          <a:p xmlns:a="http://schemas.openxmlformats.org/drawingml/2006/main">
            <a:r>
              <a:t/>
            </a:r>
          </a:p>
          <a:p xmlns:a="http://schemas.openxmlformats.org/drawingml/2006/main">
            <a:r>
              <a:t>Current recruitment scope: CyberTraining Workshops only, following project-team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bf2ddd3924b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24b70c058a4868" /><Relationship Type="http://schemas.openxmlformats.org/officeDocument/2006/relationships/slideLayout" Target="/ppt/slideLayouts/slideLayout1.xml" Id="R7094bdfb8cf54e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94bdfb8cf54e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65ac001956417a" /><Relationship Type="http://schemas.openxmlformats.org/officeDocument/2006/relationships/image" Target="/ppt/media/image.png" Id="R7196b2ce42e34790" /><Relationship Type="http://schemas.openxmlformats.org/officeDocument/2006/relationships/hyperlink" Target="https://forms.gle/13iPUM7vkB7HX4tK8" TargetMode="External" Id="Raae1ae5cb54f4876" /><Relationship Type="http://schemas.openxmlformats.org/officeDocument/2006/relationships/image" Target="/ppt/media/image2.png" Id="R92f9d825ef32419c" /><Relationship Type="http://schemas.openxmlformats.org/officeDocument/2006/relationships/image" Target="/ppt/media/image3.png" Id="R5bfb4f1d94e44d10" /><Relationship Type="http://schemas.openxmlformats.org/officeDocument/2006/relationships/notesSlide" Target="/ppt/notesSlides/notesSlide1.xml" Id="Rfe50d88bd29f4ff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DEE5B1E-E386-435C-8950-055605335DFA}"/>
              </a:ext>
            </a:extLst>
          </p:cNvPr>
          <p:cNvSpPr>
            <a:spLocks xmlns:a="http://schemas.openxmlformats.org/drawingml/2006/main" noGrp="1"/>
          </p:cNvSpPr>
          <p:nvPr/>
        </p:nvSpPr>
        <p:spPr>
          <a:xfrm xmlns:a="http://schemas.openxmlformats.org/drawingml/2006/main">
            <a:off x="0" y="0"/>
            <a:ext cx="7772400" cy="114300"/>
          </a:xfrm>
          <a:prstGeom xmlns:a="http://schemas.openxmlformats.org/drawingml/2006/main" prst="rect">
            <a:avLst/>
          </a:prstGeom>
          <a:solidFill xmlns:a="http://schemas.openxmlformats.org/drawingml/2006/main">
            <a:srgbClr val="C760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CD90B16-EFE8-45D5-9242-FC573181226C}"/>
              </a:ext>
            </a:extLst>
          </p:cNvPr>
          <p:cNvSpPr>
            <a:spLocks xmlns:a="http://schemas.openxmlformats.org/drawingml/2006/main" noGrp="1"/>
          </p:cNvSpPr>
          <p:nvPr/>
        </p:nvSpPr>
        <p:spPr>
          <a:xfrm xmlns:a="http://schemas.openxmlformats.org/drawingml/2006/main">
            <a:off x="0" y="114300"/>
            <a:ext cx="7772400" cy="3171825"/>
          </a:xfrm>
          <a:prstGeom xmlns:a="http://schemas.openxmlformats.org/drawingml/2006/main" prst="rect">
            <a:avLst/>
          </a:prstGeom>
          <a:solidFill xmlns:a="http://schemas.openxmlformats.org/drawingml/2006/main">
            <a:srgbClr val="154F43"/>
          </a:solidFill>
          <a:ln xmlns:a="http://schemas.openxmlformats.org/drawingml/2006/main" w="0">
            <a:noFill/>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7196b2ce42e34790"/>
          <a:stretch xmlns:a="http://schemas.openxmlformats.org/drawingml/2006/main"/>
        </p:blipFill>
        <p:spPr>
          <a:xfrm xmlns:a="http://schemas.openxmlformats.org/drawingml/2006/main">
            <a:off x="285750" y="152400"/>
            <a:ext cx="2857500" cy="95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F828605-985B-4E33-B2D7-8787D00D7C8A}"/>
              </a:ext>
            </a:extLst>
          </p:cNvPr>
          <p:cNvSpPr>
            <a:spLocks xmlns:a="http://schemas.openxmlformats.org/drawingml/2006/main" noGrp="1"/>
          </p:cNvSpPr>
          <p:nvPr/>
        </p:nvSpPr>
        <p:spPr>
          <a:xfrm xmlns:a="http://schemas.openxmlformats.org/drawingml/2006/main">
            <a:off x="457200" y="1047750"/>
            <a:ext cx="657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425" b="0">
                <a:solidFill>
                  <a:srgbClr val="DDECE5"/>
                </a:solidFill>
                <a:latin typeface="Arial"/>
                <a:ea typeface="Arial"/>
                <a:cs typeface="Arial"/>
              </a:defRPr>
            </a:pPr>
            <a:r>
              <a:rPr sz="1425" b="0">
                <a:solidFill>
                  <a:srgbClr val="DDECE5"/>
                </a:solidFill>
                <a:latin typeface="Arial"/>
                <a:ea typeface="Arial"/>
                <a:cs typeface="Arial"/>
              </a:rPr>
              <a:t>The University of Texas at Dallas</a:t>
            </a:r>
          </a:p>
        </p:txBody>
      </p:sp>
      <p:sp>
        <p:nvSpPr>
          <p:cNvPr id="5" name="">
            <a:extLst xmlns:a="http://schemas.openxmlformats.org/drawingml/2006/main">
              <a:ext uri="{FF2B5EF4-FFF2-40B4-BE49-F238E27FC236}">
                <a16:creationId xmlns:a16="http://schemas.microsoft.com/office/drawing/2014/main" id="{957DE034-2034-4C87-A327-E74400747AE1}"/>
              </a:ext>
            </a:extLst>
          </p:cNvPr>
          <p:cNvSpPr>
            <a:spLocks xmlns:a="http://schemas.openxmlformats.org/drawingml/2006/main" noGrp="1"/>
          </p:cNvSpPr>
          <p:nvPr/>
        </p:nvSpPr>
        <p:spPr>
          <a:xfrm xmlns:a="http://schemas.openxmlformats.org/drawingml/2006/main">
            <a:off x="457200" y="1352550"/>
            <a:ext cx="6858000" cy="295275"/>
          </a:xfrm>
          <a:prstGeom xmlns:a="http://schemas.openxmlformats.org/drawingml/2006/main" prst="rect">
            <a:avLst/>
          </a:prstGeom>
          <a:solidFill xmlns:a="http://schemas.openxmlformats.org/drawingml/2006/main">
            <a:srgbClr val="F1BD91"/>
          </a:solidFill>
          <a:ln xmlns:a="http://schemas.openxmlformats.org/drawingml/2006/main" w="0">
            <a:noFill/>
          </a:ln>
        </p:spPr>
        <p:txBody>
          <a:bodyPr xmlns:a="http://schemas.openxmlformats.org/drawingml/2006/main" wrap="square" lIns="95250" tIns="28575" rIns="95250" bIns="0" anchor="t">
            <a:noAutofit/>
          </a:bodyPr>
          <a:lstStyle xmlns:a="http://schemas.openxmlformats.org/drawingml/2006/main"/>
          <a:p xmlns:a="http://schemas.openxmlformats.org/drawingml/2006/main">
            <a:pPr>
              <a:buNone/>
              <a:defRPr sz="1575" b="1">
                <a:solidFill>
                  <a:srgbClr val="154F43"/>
                </a:solidFill>
                <a:latin typeface="Arial"/>
                <a:ea typeface="Arial"/>
                <a:cs typeface="Arial"/>
              </a:defRPr>
            </a:pPr>
            <a:r>
              <a:rPr sz="1575" b="1">
                <a:solidFill>
                  <a:srgbClr val="154F43"/>
                </a:solidFill>
                <a:latin typeface="Arial"/>
                <a:ea typeface="Arial"/>
                <a:cs typeface="Arial"/>
              </a:rPr>
              <a:t>STUDENTS WILL RECEIVE COMPENSATION</a:t>
            </a:r>
          </a:p>
        </p:txBody>
      </p:sp>
      <p:sp>
        <p:nvSpPr>
          <p:cNvPr id="6" name="">
            <a:extLst xmlns:a="http://schemas.openxmlformats.org/drawingml/2006/main">
              <a:ext uri="{FF2B5EF4-FFF2-40B4-BE49-F238E27FC236}">
                <a16:creationId xmlns:a16="http://schemas.microsoft.com/office/drawing/2014/main" id="{4ADF9AB5-114D-4AB0-BFD9-1989F6D946A1}"/>
              </a:ext>
            </a:extLst>
          </p:cNvPr>
          <p:cNvSpPr>
            <a:spLocks xmlns:a="http://schemas.openxmlformats.org/drawingml/2006/main" noGrp="1"/>
          </p:cNvSpPr>
          <p:nvPr/>
        </p:nvSpPr>
        <p:spPr>
          <a:xfrm xmlns:a="http://schemas.openxmlformats.org/drawingml/2006/main">
            <a:off x="457200" y="1714500"/>
            <a:ext cx="6858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Explore AI for</a:t>
            </a:r>
          </a:p>
          <a:p xmlns:a="http://schemas.openxmlformats.org/drawingml/2006/main">
            <a:pPr>
              <a:buNone/>
              <a:defRPr sz="3225" b="1">
                <a:solidFill>
                  <a:srgbClr val="FFFFFF"/>
                </a:solidFill>
                <a:latin typeface="Arial"/>
                <a:ea typeface="Arial"/>
                <a:cs typeface="Arial"/>
              </a:defRPr>
            </a:pPr>
            <a:r>
              <a:rPr sz="3225" b="1">
                <a:solidFill>
                  <a:srgbClr val="FFFFFF"/>
                </a:solidFill>
                <a:latin typeface="Arial"/>
                <a:ea typeface="Arial"/>
                <a:cs typeface="Arial"/>
              </a:rPr>
              <a:t>biomaterials research</a:t>
            </a:r>
          </a:p>
        </p:txBody>
      </p:sp>
      <p:sp>
        <p:nvSpPr>
          <p:cNvPr id="7" name="">
            <a:extLst xmlns:a="http://schemas.openxmlformats.org/drawingml/2006/main">
              <a:ext uri="{FF2B5EF4-FFF2-40B4-BE49-F238E27FC236}">
                <a16:creationId xmlns:a16="http://schemas.microsoft.com/office/drawing/2014/main" id="{05BF66FF-8067-45C5-BA64-195E6DB6DD02}"/>
              </a:ext>
            </a:extLst>
          </p:cNvPr>
          <p:cNvSpPr>
            <a:spLocks xmlns:a="http://schemas.openxmlformats.org/drawingml/2006/main" noGrp="1"/>
          </p:cNvSpPr>
          <p:nvPr/>
        </p:nvSpPr>
        <p:spPr>
          <a:xfrm xmlns:a="http://schemas.openxmlformats.org/drawingml/2006/main">
            <a:off x="457200" y="2762250"/>
            <a:ext cx="685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FFFFFF"/>
                </a:solidFill>
                <a:latin typeface="Arial"/>
                <a:ea typeface="Arial"/>
                <a:cs typeface="Arial"/>
              </a:defRPr>
            </a:pPr>
            <a:r>
              <a:rPr sz="1350" b="0">
                <a:solidFill>
                  <a:srgbClr val="FFFFFF"/>
                </a:solidFill>
                <a:latin typeface="Arial"/>
                <a:ea typeface="Arial"/>
                <a:cs typeface="Arial"/>
              </a:rPr>
              <a:t>Join CyberTraining Workshops in AI, scientific computing, and biomaterials through hands-on exercises and team projects.</a:t>
            </a:r>
          </a:p>
        </p:txBody>
      </p:sp>
      <p:sp>
        <p:nvSpPr>
          <p:cNvPr id="8" name="">
            <a:extLst xmlns:a="http://schemas.openxmlformats.org/drawingml/2006/main">
              <a:ext uri="{FF2B5EF4-FFF2-40B4-BE49-F238E27FC236}">
                <a16:creationId xmlns:a16="http://schemas.microsoft.com/office/drawing/2014/main" id="{3DF769E9-6A1E-468C-8123-9C1CDEE59B31}"/>
              </a:ext>
            </a:extLst>
          </p:cNvPr>
          <p:cNvSpPr>
            <a:spLocks xmlns:a="http://schemas.openxmlformats.org/drawingml/2006/main" noGrp="1"/>
          </p:cNvSpPr>
          <p:nvPr/>
        </p:nvSpPr>
        <p:spPr>
          <a:xfrm xmlns:a="http://schemas.openxmlformats.org/drawingml/2006/main">
            <a:off x="457200" y="3571875"/>
            <a:ext cx="4229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54F43"/>
                </a:solidFill>
                <a:latin typeface="Arial"/>
                <a:ea typeface="Arial"/>
                <a:cs typeface="Arial"/>
              </a:defRPr>
            </a:pPr>
            <a:r>
              <a:rPr sz="1800" b="1">
                <a:solidFill>
                  <a:srgbClr val="154F43"/>
                </a:solidFill>
                <a:latin typeface="Arial"/>
                <a:ea typeface="Arial"/>
                <a:cs typeface="Arial"/>
              </a:rPr>
              <a:t>For undergraduate
and graduate students</a:t>
            </a:r>
          </a:p>
        </p:txBody>
      </p:sp>
      <p:sp>
        <p:nvSpPr>
          <p:cNvPr id="9" name="">
            <a:extLst xmlns:a="http://schemas.openxmlformats.org/drawingml/2006/main">
              <a:ext uri="{FF2B5EF4-FFF2-40B4-BE49-F238E27FC236}">
                <a16:creationId xmlns:a16="http://schemas.microsoft.com/office/drawing/2014/main" id="{C94D0F93-30DC-4539-A5F3-5839BE54E2C9}"/>
              </a:ext>
            </a:extLst>
          </p:cNvPr>
          <p:cNvSpPr>
            <a:spLocks xmlns:a="http://schemas.openxmlformats.org/drawingml/2006/main" noGrp="1"/>
          </p:cNvSpPr>
          <p:nvPr/>
        </p:nvSpPr>
        <p:spPr>
          <a:xfrm xmlns:a="http://schemas.openxmlformats.org/drawingml/2006/main">
            <a:off x="457200" y="4229100"/>
            <a:ext cx="42291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0635C"/>
                </a:solidFill>
                <a:latin typeface="Arial"/>
                <a:ea typeface="Arial"/>
                <a:cs typeface="Arial"/>
              </a:defRPr>
            </a:pPr>
            <a:r>
              <a:rPr sz="1350" b="0">
                <a:solidFill>
                  <a:srgbClr val="50635C"/>
                </a:solidFill>
                <a:latin typeface="Arial"/>
                <a:ea typeface="Arial"/>
                <a:cs typeface="Arial"/>
              </a:rPr>
              <a:t>Bioengineering, computer science, materials science, chemistry, and related fields. Students from UT Dallas and other institutions are welcome to express interest.</a:t>
            </a:r>
          </a:p>
        </p:txBody>
      </p:sp>
      <p:sp>
        <p:nvSpPr>
          <p:cNvPr id="10" name="">
            <a:extLst xmlns:a="http://schemas.openxmlformats.org/drawingml/2006/main">
              <a:ext uri="{FF2B5EF4-FFF2-40B4-BE49-F238E27FC236}">
                <a16:creationId xmlns:a16="http://schemas.microsoft.com/office/drawing/2014/main" id="{900015A6-EB71-4372-8198-5978BFBF8A6D}"/>
              </a:ext>
            </a:extLst>
          </p:cNvPr>
          <p:cNvSpPr>
            <a:spLocks xmlns:a="http://schemas.openxmlformats.org/drawingml/2006/main" noGrp="1"/>
          </p:cNvSpPr>
          <p:nvPr/>
        </p:nvSpPr>
        <p:spPr>
          <a:xfrm xmlns:a="http://schemas.openxmlformats.org/drawingml/2006/main">
            <a:off x="457200" y="55245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54F43"/>
                </a:solidFill>
                <a:latin typeface="Arial"/>
                <a:ea typeface="Arial"/>
                <a:cs typeface="Arial"/>
              </a:defRPr>
            </a:pPr>
            <a:r>
              <a:rPr sz="1800" b="1">
                <a:solidFill>
                  <a:srgbClr val="154F43"/>
                </a:solidFill>
                <a:latin typeface="Arial"/>
                <a:ea typeface="Arial"/>
                <a:cs typeface="Arial"/>
              </a:rPr>
              <a:t>CyberTraining Workshops</a:t>
            </a:r>
          </a:p>
        </p:txBody>
      </p:sp>
      <p:sp>
        <p:nvSpPr>
          <p:cNvPr id="11" name="">
            <a:extLst xmlns:a="http://schemas.openxmlformats.org/drawingml/2006/main">
              <a:ext uri="{FF2B5EF4-FFF2-40B4-BE49-F238E27FC236}">
                <a16:creationId xmlns:a16="http://schemas.microsoft.com/office/drawing/2014/main" id="{2B587E90-8B51-40E2-9143-C0516F8261DC}"/>
              </a:ext>
            </a:extLst>
          </p:cNvPr>
          <p:cNvSpPr>
            <a:spLocks xmlns:a="http://schemas.openxmlformats.org/drawingml/2006/main" noGrp="1"/>
          </p:cNvSpPr>
          <p:nvPr/>
        </p:nvSpPr>
        <p:spPr>
          <a:xfrm xmlns:a="http://schemas.openxmlformats.org/drawingml/2006/main">
            <a:off x="457200" y="5953125"/>
            <a:ext cx="2076450" cy="28575"/>
          </a:xfrm>
          <a:prstGeom xmlns:a="http://schemas.openxmlformats.org/drawingml/2006/main" prst="rect">
            <a:avLst/>
          </a:prstGeom>
          <a:solidFill xmlns:a="http://schemas.openxmlformats.org/drawingml/2006/main">
            <a:srgbClr val="C7602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253F1A8-756A-477A-A0D0-ED6B37962B50}"/>
              </a:ext>
            </a:extLst>
          </p:cNvPr>
          <p:cNvSpPr>
            <a:spLocks xmlns:a="http://schemas.openxmlformats.org/drawingml/2006/main" noGrp="1"/>
          </p:cNvSpPr>
          <p:nvPr/>
        </p:nvSpPr>
        <p:spPr>
          <a:xfrm xmlns:a="http://schemas.openxmlformats.org/drawingml/2006/main">
            <a:off x="457200" y="612457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1">
                <a:solidFill>
                  <a:srgbClr val="154F43"/>
                </a:solidFill>
                <a:latin typeface="Arial"/>
                <a:ea typeface="Arial"/>
                <a:cs typeface="Arial"/>
              </a:defRPr>
            </a:pPr>
            <a:r>
              <a:rPr sz="1500" b="1">
                <a:solidFill>
                  <a:srgbClr val="154F43"/>
                </a:solidFill>
                <a:latin typeface="Arial"/>
                <a:ea typeface="Arial"/>
                <a:cs typeface="Arial"/>
              </a:rPr>
              <a:t>Guided coding</a:t>
            </a:r>
          </a:p>
        </p:txBody>
      </p:sp>
      <p:sp>
        <p:nvSpPr>
          <p:cNvPr id="13" name="">
            <a:extLst xmlns:a="http://schemas.openxmlformats.org/drawingml/2006/main">
              <a:ext uri="{FF2B5EF4-FFF2-40B4-BE49-F238E27FC236}">
                <a16:creationId xmlns:a16="http://schemas.microsoft.com/office/drawing/2014/main" id="{16460CE9-A534-4855-9E6B-725C0C970ED0}"/>
              </a:ext>
            </a:extLst>
          </p:cNvPr>
          <p:cNvSpPr>
            <a:spLocks xmlns:a="http://schemas.openxmlformats.org/drawingml/2006/main" noGrp="1"/>
          </p:cNvSpPr>
          <p:nvPr/>
        </p:nvSpPr>
        <p:spPr>
          <a:xfrm xmlns:a="http://schemas.openxmlformats.org/drawingml/2006/main">
            <a:off x="457200" y="6477000"/>
            <a:ext cx="214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Practice scientific</a:t>
            </a:r>
          </a:p>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computing and AI methods</a:t>
            </a:r>
          </a:p>
        </p:txBody>
      </p:sp>
      <p:sp>
        <p:nvSpPr>
          <p:cNvPr id="14" name="">
            <a:extLst xmlns:a="http://schemas.openxmlformats.org/drawingml/2006/main">
              <a:ext uri="{FF2B5EF4-FFF2-40B4-BE49-F238E27FC236}">
                <a16:creationId xmlns:a16="http://schemas.microsoft.com/office/drawing/2014/main" id="{7888E092-C23A-4B3E-950E-4B907462211A}"/>
              </a:ext>
            </a:extLst>
          </p:cNvPr>
          <p:cNvSpPr>
            <a:spLocks xmlns:a="http://schemas.openxmlformats.org/drawingml/2006/main" noGrp="1"/>
          </p:cNvSpPr>
          <p:nvPr/>
        </p:nvSpPr>
        <p:spPr>
          <a:xfrm xmlns:a="http://schemas.openxmlformats.org/drawingml/2006/main">
            <a:off x="2790825" y="5953125"/>
            <a:ext cx="2076450" cy="28575"/>
          </a:xfrm>
          <a:prstGeom xmlns:a="http://schemas.openxmlformats.org/drawingml/2006/main" prst="rect">
            <a:avLst/>
          </a:prstGeom>
          <a:solidFill xmlns:a="http://schemas.openxmlformats.org/drawingml/2006/main">
            <a:srgbClr val="C7602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A29537C-CD5C-4B94-8FFA-32BE94703B23}"/>
              </a:ext>
            </a:extLst>
          </p:cNvPr>
          <p:cNvSpPr>
            <a:spLocks xmlns:a="http://schemas.openxmlformats.org/drawingml/2006/main" noGrp="1"/>
          </p:cNvSpPr>
          <p:nvPr/>
        </p:nvSpPr>
        <p:spPr>
          <a:xfrm xmlns:a="http://schemas.openxmlformats.org/drawingml/2006/main">
            <a:off x="2790825" y="612457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1">
                <a:solidFill>
                  <a:srgbClr val="154F43"/>
                </a:solidFill>
                <a:latin typeface="Arial"/>
                <a:ea typeface="Arial"/>
                <a:cs typeface="Arial"/>
              </a:defRPr>
            </a:pPr>
            <a:r>
              <a:rPr sz="1500" b="1">
                <a:solidFill>
                  <a:srgbClr val="154F43"/>
                </a:solidFill>
                <a:latin typeface="Arial"/>
                <a:ea typeface="Arial"/>
                <a:cs typeface="Arial"/>
              </a:rPr>
              <a:t>Biomaterials data</a:t>
            </a:r>
          </a:p>
        </p:txBody>
      </p:sp>
      <p:sp>
        <p:nvSpPr>
          <p:cNvPr id="16" name="">
            <a:extLst xmlns:a="http://schemas.openxmlformats.org/drawingml/2006/main">
              <a:ext uri="{FF2B5EF4-FFF2-40B4-BE49-F238E27FC236}">
                <a16:creationId xmlns:a16="http://schemas.microsoft.com/office/drawing/2014/main" id="{C409514B-A380-45FE-A41E-95948F1B5181}"/>
              </a:ext>
            </a:extLst>
          </p:cNvPr>
          <p:cNvSpPr>
            <a:spLocks xmlns:a="http://schemas.openxmlformats.org/drawingml/2006/main" noGrp="1"/>
          </p:cNvSpPr>
          <p:nvPr/>
        </p:nvSpPr>
        <p:spPr>
          <a:xfrm xmlns:a="http://schemas.openxmlformats.org/drawingml/2006/main">
            <a:off x="2790825" y="6477000"/>
            <a:ext cx="214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Work with real datasets</a:t>
            </a:r>
          </a:p>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and research questions</a:t>
            </a:r>
          </a:p>
        </p:txBody>
      </p:sp>
      <p:sp>
        <p:nvSpPr>
          <p:cNvPr id="17" name="">
            <a:extLst xmlns:a="http://schemas.openxmlformats.org/drawingml/2006/main">
              <a:ext uri="{FF2B5EF4-FFF2-40B4-BE49-F238E27FC236}">
                <a16:creationId xmlns:a16="http://schemas.microsoft.com/office/drawing/2014/main" id="{B5A75719-974B-49E5-B59C-407C6FAE6A81}"/>
              </a:ext>
            </a:extLst>
          </p:cNvPr>
          <p:cNvSpPr>
            <a:spLocks xmlns:a="http://schemas.openxmlformats.org/drawingml/2006/main" noGrp="1"/>
          </p:cNvSpPr>
          <p:nvPr/>
        </p:nvSpPr>
        <p:spPr>
          <a:xfrm xmlns:a="http://schemas.openxmlformats.org/drawingml/2006/main">
            <a:off x="5124450" y="5953125"/>
            <a:ext cx="2076450" cy="28575"/>
          </a:xfrm>
          <a:prstGeom xmlns:a="http://schemas.openxmlformats.org/drawingml/2006/main" prst="rect">
            <a:avLst/>
          </a:prstGeom>
          <a:solidFill xmlns:a="http://schemas.openxmlformats.org/drawingml/2006/main">
            <a:srgbClr val="C7602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6E28BF8-34BB-4332-98B3-FB5B84BDBED1}"/>
              </a:ext>
            </a:extLst>
          </p:cNvPr>
          <p:cNvSpPr>
            <a:spLocks xmlns:a="http://schemas.openxmlformats.org/drawingml/2006/main" noGrp="1"/>
          </p:cNvSpPr>
          <p:nvPr/>
        </p:nvSpPr>
        <p:spPr>
          <a:xfrm xmlns:a="http://schemas.openxmlformats.org/drawingml/2006/main">
            <a:off x="5124450" y="6124575"/>
            <a:ext cx="2143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500" b="1">
                <a:solidFill>
                  <a:srgbClr val="154F43"/>
                </a:solidFill>
                <a:latin typeface="Arial"/>
                <a:ea typeface="Arial"/>
                <a:cs typeface="Arial"/>
              </a:defRPr>
            </a:pPr>
            <a:r>
              <a:rPr sz="1500" b="1">
                <a:solidFill>
                  <a:srgbClr val="154F43"/>
                </a:solidFill>
                <a:latin typeface="Arial"/>
                <a:ea typeface="Arial"/>
                <a:cs typeface="Arial"/>
              </a:rPr>
              <a:t>Team mini-projects</a:t>
            </a:r>
          </a:p>
        </p:txBody>
      </p:sp>
      <p:sp>
        <p:nvSpPr>
          <p:cNvPr id="19" name="">
            <a:extLst xmlns:a="http://schemas.openxmlformats.org/drawingml/2006/main">
              <a:ext uri="{FF2B5EF4-FFF2-40B4-BE49-F238E27FC236}">
                <a16:creationId xmlns:a16="http://schemas.microsoft.com/office/drawing/2014/main" id="{42007828-D637-4285-A9AE-C3A8A79DDF40}"/>
              </a:ext>
            </a:extLst>
          </p:cNvPr>
          <p:cNvSpPr>
            <a:spLocks xmlns:a="http://schemas.openxmlformats.org/drawingml/2006/main" noGrp="1"/>
          </p:cNvSpPr>
          <p:nvPr/>
        </p:nvSpPr>
        <p:spPr>
          <a:xfrm xmlns:a="http://schemas.openxmlformats.org/drawingml/2006/main">
            <a:off x="5124450" y="6477000"/>
            <a:ext cx="214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Connect computational</a:t>
            </a:r>
          </a:p>
          <a:p xmlns:a="http://schemas.openxmlformats.org/drawingml/2006/main">
            <a:pPr>
              <a:buNone/>
              <a:defRPr sz="1275" b="0">
                <a:solidFill>
                  <a:srgbClr val="50635C"/>
                </a:solidFill>
                <a:latin typeface="Arial"/>
                <a:ea typeface="Arial"/>
                <a:cs typeface="Arial"/>
              </a:defRPr>
            </a:pPr>
            <a:r>
              <a:rPr sz="1275" b="0">
                <a:solidFill>
                  <a:srgbClr val="50635C"/>
                </a:solidFill>
                <a:latin typeface="Arial"/>
                <a:ea typeface="Arial"/>
                <a:cs typeface="Arial"/>
              </a:rPr>
              <a:t>methods with experiments</a:t>
            </a:r>
          </a:p>
        </p:txBody>
      </p:sp>
      <p:sp>
        <p:nvSpPr>
          <p:cNvPr id="20" name="">
            <a:extLst xmlns:a="http://schemas.openxmlformats.org/drawingml/2006/main">
              <a:ext uri="{FF2B5EF4-FFF2-40B4-BE49-F238E27FC236}">
                <a16:creationId xmlns:a16="http://schemas.microsoft.com/office/drawing/2014/main" id="{5BDD3D71-EB1B-47EE-A972-CBA616B04AE2}"/>
              </a:ext>
            </a:extLst>
          </p:cNvPr>
          <p:cNvSpPr>
            <a:spLocks xmlns:a="http://schemas.openxmlformats.org/drawingml/2006/main" noGrp="1"/>
          </p:cNvSpPr>
          <p:nvPr/>
        </p:nvSpPr>
        <p:spPr>
          <a:xfrm xmlns:a="http://schemas.openxmlformats.org/drawingml/2006/main">
            <a:off x="457200" y="712470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1">
                <a:solidFill>
                  <a:srgbClr val="154F43"/>
                </a:solidFill>
                <a:latin typeface="Arial"/>
                <a:ea typeface="Arial"/>
                <a:cs typeface="Arial"/>
              </a:defRPr>
            </a:pPr>
            <a:r>
              <a:rPr sz="1800" b="1">
                <a:solidFill>
                  <a:srgbClr val="154F43"/>
                </a:solidFill>
                <a:latin typeface="Arial"/>
                <a:ea typeface="Arial"/>
                <a:cs typeface="Arial"/>
              </a:rPr>
              <a:t>Explore research questions that matter</a:t>
            </a:r>
          </a:p>
        </p:txBody>
      </p:sp>
      <p:sp>
        <p:nvSpPr>
          <p:cNvPr id="21" name="">
            <a:extLst xmlns:a="http://schemas.openxmlformats.org/drawingml/2006/main">
              <a:ext uri="{FF2B5EF4-FFF2-40B4-BE49-F238E27FC236}">
                <a16:creationId xmlns:a16="http://schemas.microsoft.com/office/drawing/2014/main" id="{9D047A29-6ACA-47B9-934E-6A62EF5CF7C8}"/>
              </a:ext>
            </a:extLst>
          </p:cNvPr>
          <p:cNvSpPr>
            <a:spLocks xmlns:a="http://schemas.openxmlformats.org/drawingml/2006/main" noGrp="1"/>
          </p:cNvSpPr>
          <p:nvPr/>
        </p:nvSpPr>
        <p:spPr>
          <a:xfrm xmlns:a="http://schemas.openxmlformats.org/drawingml/2006/main">
            <a:off x="457200" y="7524750"/>
            <a:ext cx="685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0635C"/>
                </a:solidFill>
                <a:latin typeface="Arial"/>
                <a:ea typeface="Arial"/>
                <a:cs typeface="Arial"/>
              </a:defRPr>
            </a:pPr>
            <a:r>
              <a:rPr sz="1350" b="0">
                <a:solidFill>
                  <a:srgbClr val="50635C"/>
                </a:solidFill>
                <a:latin typeface="Arial"/>
                <a:ea typeface="Arial"/>
                <a:cs typeface="Arial"/>
              </a:rPr>
              <a:t>Drug and gene delivery  /  Polymer and materials design</a:t>
            </a:r>
          </a:p>
          <a:p xmlns:a="http://schemas.openxmlformats.org/drawingml/2006/main">
            <a:pPr>
              <a:buNone/>
              <a:defRPr sz="1350" b="0">
                <a:solidFill>
                  <a:srgbClr val="50635C"/>
                </a:solidFill>
                <a:latin typeface="Arial"/>
                <a:ea typeface="Arial"/>
                <a:cs typeface="Arial"/>
              </a:defRPr>
            </a:pPr>
            <a:r>
              <a:rPr sz="1350" b="0">
                <a:solidFill>
                  <a:srgbClr val="50635C"/>
                </a:solidFill>
                <a:latin typeface="Arial"/>
                <a:ea typeface="Arial"/>
                <a:cs typeface="Arial"/>
              </a:rPr>
              <a:t>Tissue engineering  /  Reliable AI for scientific discovery</a:t>
            </a:r>
          </a:p>
        </p:txBody>
      </p:sp>
      <p:sp>
        <p:nvSpPr>
          <p:cNvPr id="22" name="">
            <a:extLst xmlns:a="http://schemas.openxmlformats.org/drawingml/2006/main">
              <a:ext uri="{FF2B5EF4-FFF2-40B4-BE49-F238E27FC236}">
                <a16:creationId xmlns:a16="http://schemas.microsoft.com/office/drawing/2014/main" id="{7971E7F0-17DC-49B8-8576-17A12BDDE8CD}"/>
              </a:ext>
            </a:extLst>
          </p:cNvPr>
          <p:cNvSpPr>
            <a:spLocks xmlns:a="http://schemas.openxmlformats.org/drawingml/2006/main" noGrp="1"/>
          </p:cNvSpPr>
          <p:nvPr/>
        </p:nvSpPr>
        <p:spPr>
          <a:xfrm xmlns:a="http://schemas.openxmlformats.org/drawingml/2006/main">
            <a:off x="304800" y="8096250"/>
            <a:ext cx="7162800" cy="1352550"/>
          </a:xfrm>
          <a:prstGeom xmlns:a="http://schemas.openxmlformats.org/drawingml/2006/main" prst="rect">
            <a:avLst/>
          </a:prstGeom>
          <a:solidFill xmlns:a="http://schemas.openxmlformats.org/drawingml/2006/main">
            <a:srgbClr val="EDF4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1E7A864-FC74-4564-A984-7A2729E25941}"/>
              </a:ext>
            </a:extLst>
          </p:cNvPr>
          <p:cNvSpPr>
            <a:spLocks xmlns:a="http://schemas.openxmlformats.org/drawingml/2006/main" noGrp="1"/>
          </p:cNvSpPr>
          <p:nvPr/>
        </p:nvSpPr>
        <p:spPr>
          <a:xfrm xmlns:a="http://schemas.openxmlformats.org/drawingml/2006/main">
            <a:off x="495300" y="8210550"/>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154F43"/>
                </a:solidFill>
                <a:latin typeface="Arial"/>
                <a:ea typeface="Arial"/>
                <a:cs typeface="Arial"/>
              </a:defRPr>
            </a:pPr>
            <a:r>
              <a:rPr sz="1875" b="1">
                <a:solidFill>
                  <a:srgbClr val="154F43"/>
                </a:solidFill>
                <a:latin typeface="Arial"/>
                <a:ea typeface="Arial"/>
                <a:cs typeface="Arial"/>
              </a:rPr>
              <a:t>Tell us what interests you</a:t>
            </a:r>
          </a:p>
        </p:txBody>
      </p:sp>
      <p:sp>
        <p:nvSpPr>
          <p:cNvPr id="24" name="">
            <a:extLst xmlns:a="http://schemas.openxmlformats.org/drawingml/2006/main">
              <a:ext uri="{FF2B5EF4-FFF2-40B4-BE49-F238E27FC236}">
                <a16:creationId xmlns:a16="http://schemas.microsoft.com/office/drawing/2014/main" id="{EE34C311-7D00-4D24-BDD2-12C1EE4D0DCD}"/>
              </a:ext>
            </a:extLst>
          </p:cNvPr>
          <p:cNvSpPr>
            <a:spLocks xmlns:a="http://schemas.openxmlformats.org/drawingml/2006/main" noGrp="1"/>
          </p:cNvSpPr>
          <p:nvPr/>
        </p:nvSpPr>
        <p:spPr>
          <a:xfrm xmlns:a="http://schemas.openxmlformats.org/drawingml/2006/main">
            <a:off x="495300" y="8601075"/>
            <a:ext cx="523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75" b="0">
                <a:solidFill>
                  <a:srgbClr val="203B34"/>
                </a:solidFill>
                <a:latin typeface="Arial"/>
                <a:ea typeface="Arial"/>
                <a:cs typeface="Arial"/>
              </a:defRPr>
            </a:pPr>
            <a:r>
              <a:rPr sz="1275" b="0">
                <a:solidFill>
                  <a:srgbClr val="203B34"/>
                </a:solidFill>
                <a:latin typeface="Arial"/>
                <a:ea typeface="Arial"/>
                <a:cs typeface="Arial"/>
              </a:rPr>
              <a:t>Scan to share your academic background,</a:t>
            </a:r>
          </a:p>
          <a:p xmlns:a="http://schemas.openxmlformats.org/drawingml/2006/main">
            <a:pPr>
              <a:buNone/>
              <a:defRPr sz="1275" b="0">
                <a:solidFill>
                  <a:srgbClr val="203B34"/>
                </a:solidFill>
                <a:latin typeface="Arial"/>
                <a:ea typeface="Arial"/>
                <a:cs typeface="Arial"/>
              </a:defRPr>
            </a:pPr>
            <a:r>
              <a:rPr sz="1275" b="0">
                <a:solidFill>
                  <a:srgbClr val="203B34"/>
                </a:solidFill>
                <a:latin typeface="Arial"/>
                <a:ea typeface="Arial"/>
                <a:cs typeface="Arial"/>
              </a:rPr>
              <a:t>graduation plans, and research goals.</a:t>
            </a:r>
          </a:p>
          <a:p xmlns:a="http://schemas.openxmlformats.org/drawingml/2006/main">
            <a:pPr>
              <a:buNone/>
              <a:defRPr sz="1275" b="0">
                <a:solidFill>
                  <a:srgbClr val="203B34"/>
                </a:solidFill>
                <a:latin typeface="Arial"/>
                <a:ea typeface="Arial"/>
                <a:cs typeface="Arial"/>
              </a:defRPr>
            </a:pPr>
            <a:r>
              <a:rPr sz="1275" b="0">
                <a:solidFill>
                  <a:srgbClr val="203B34"/>
                </a:solidFill>
                <a:latin typeface="Arial"/>
                <a:ea typeface="Arial"/>
                <a:cs typeface="Arial"/>
              </a:rPr>
              <a:t>12 questions · about 3-5 minutes</a:t>
            </a:r>
          </a:p>
        </p:txBody>
      </p:sp>
      <p:sp>
        <p:nvSpPr>
          <p:cNvPr id="25" name="">
            <a:extLst xmlns:a="http://schemas.openxmlformats.org/drawingml/2006/main">
              <a:ext uri="{FF2B5EF4-FFF2-40B4-BE49-F238E27FC236}">
                <a16:creationId xmlns:a16="http://schemas.microsoft.com/office/drawing/2014/main" id="{179E81DE-1898-4A46-A59C-357DD2D3161E}"/>
              </a:ext>
            </a:extLst>
          </p:cNvPr>
          <p:cNvSpPr>
            <a:spLocks xmlns:a="http://schemas.openxmlformats.org/drawingml/2006/main" noGrp="1"/>
          </p:cNvSpPr>
          <p:nvPr/>
        </p:nvSpPr>
        <p:spPr>
          <a:xfrm xmlns:a="http://schemas.openxmlformats.org/drawingml/2006/main">
            <a:off x="495300" y="9229725"/>
            <a:ext cx="523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238" b="1">
                <a:solidFill>
                  <a:srgbClr val="154F43"/>
                </a:solidFill>
                <a:latin typeface="Arial"/>
                <a:ea typeface="Arial"/>
                <a:cs typeface="Arial"/>
              </a:defRPr>
            </a:pPr>
            <a:r>
              <a:rPr sz="1238" b="1">
                <a:solidFill>
                  <a:srgbClr val="154F43"/>
                </a:solidFill>
                <a:latin typeface="Arial"/>
                <a:ea typeface="Arial"/>
                <a:cs typeface="Arial"/>
                <a:hlinkClick xmlns:r="http://schemas.openxmlformats.org/officeDocument/2006/relationships" r:id="Raae1ae5cb54f4876"/>
              </a:rPr>
              <a:t>forms.gle/13iPUM7vkB7HX4tK8</a:t>
            </a:r>
          </a:p>
        </p:txBody>
      </p:sp>
      <p:pic>
        <p:nvPicPr>
          <p:cNvPr id="62" name=""/>
          <p:cNvPicPr>
            <a:picLocks xmlns:a="http://schemas.openxmlformats.org/drawingml/2006/main" noChangeAspect="1"/>
          </p:cNvPicPr>
          <p:nvPr/>
        </p:nvPicPr>
        <p:blipFill>
          <a:blip xmlns:r="http://schemas.openxmlformats.org/officeDocument/2006/relationships" xmlns:a="http://schemas.openxmlformats.org/drawingml/2006/main" r:embed="R92f9d825ef32419c"/>
          <a:stretch xmlns:a="http://schemas.openxmlformats.org/drawingml/2006/main"/>
        </p:blipFill>
        <p:spPr>
          <a:xfrm xmlns:a="http://schemas.openxmlformats.org/drawingml/2006/main">
            <a:off x="5981700" y="8172450"/>
            <a:ext cx="1276350" cy="12763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ABBCCE47-8900-4B78-9A66-522DA0D55671}"/>
              </a:ext>
            </a:extLst>
          </p:cNvPr>
          <p:cNvSpPr>
            <a:spLocks xmlns:a="http://schemas.openxmlformats.org/drawingml/2006/main" noGrp="1"/>
          </p:cNvSpPr>
          <p:nvPr/>
        </p:nvSpPr>
        <p:spPr>
          <a:xfrm xmlns:a="http://schemas.openxmlformats.org/drawingml/2006/main">
            <a:off x="457200" y="95250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00" b="0">
                <a:solidFill>
                  <a:srgbClr val="50635C"/>
                </a:solidFill>
                <a:latin typeface="Arial"/>
                <a:ea typeface="Arial"/>
                <a:cs typeface="Arial"/>
              </a:defRPr>
            </a:pPr>
            <a:r>
              <a:rPr sz="900" b="0">
                <a:solidFill>
                  <a:srgbClr val="50635C"/>
                </a:solidFill>
                <a:latin typeface="Arial"/>
                <a:ea typeface="Arial"/>
                <a:cs typeface="Arial"/>
              </a:rPr>
              <a:t>Compensation for confirmed participants. Interest form is not enrollment.</a:t>
            </a:r>
          </a:p>
        </p:txBody>
      </p:sp>
      <p:sp>
        <p:nvSpPr>
          <p:cNvPr id="28" name="">
            <a:extLst xmlns:a="http://schemas.openxmlformats.org/drawingml/2006/main">
              <a:ext uri="{FF2B5EF4-FFF2-40B4-BE49-F238E27FC236}">
                <a16:creationId xmlns:a16="http://schemas.microsoft.com/office/drawing/2014/main" id="{F75462FA-04B5-4727-BABA-48CBFCC15ABE}"/>
              </a:ext>
            </a:extLst>
          </p:cNvPr>
          <p:cNvSpPr>
            <a:spLocks xmlns:a="http://schemas.openxmlformats.org/drawingml/2006/main" noGrp="1"/>
          </p:cNvSpPr>
          <p:nvPr/>
        </p:nvSpPr>
        <p:spPr>
          <a:xfrm xmlns:a="http://schemas.openxmlformats.org/drawingml/2006/main">
            <a:off x="457200" y="9715500"/>
            <a:ext cx="68580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900" b="0">
                <a:solidFill>
                  <a:srgbClr val="50635C"/>
                </a:solidFill>
                <a:latin typeface="Arial"/>
                <a:ea typeface="Arial"/>
                <a:cs typeface="Arial"/>
              </a:defRPr>
            </a:pPr>
            <a:r>
              <a:rPr sz="900" b="0">
                <a:solidFill>
                  <a:srgbClr val="50635C"/>
                </a:solidFill>
                <a:latin typeface="Arial"/>
                <a:ea typeface="Arial"/>
                <a:cs typeface="Arial"/>
              </a:rPr>
              <a:t>DRAFT · Dates, eligibility, and compensation details to be announced.</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5bfb4f1d94e44d10"/>
          <a:stretch xmlns:a="http://schemas.openxmlformats.org/drawingml/2006/main"/>
        </p:blipFill>
        <p:spPr>
          <a:xfrm xmlns:a="http://schemas.openxmlformats.org/drawingml/2006/main">
            <a:off x="4991100" y="3486150"/>
            <a:ext cx="2324100" cy="1743075"/>
          </a:xfrm>
          <a:prstGeom xmlns:a="http://schemas.openxmlformats.org/drawingml/2006/main" prst="rect">
            <a:avLst/>
          </a:prstGeom>
        </p:spPr>
      </p:pic>
      <p:sp>
        <p:nvSpPr>
          <p:cNvPr id="33" name="">
            <a:extLst xmlns:a="http://schemas.openxmlformats.org/drawingml/2006/main">
              <a:ext uri="{FF2B5EF4-FFF2-40B4-BE49-F238E27FC236}">
                <a16:creationId xmlns:a16="http://schemas.microsoft.com/office/drawing/2014/main" id="{D16C1084-4681-427E-BE7E-8FEAC0B0D034}"/>
              </a:ext>
            </a:extLst>
          </p:cNvPr>
          <p:cNvSpPr>
            <a:spLocks xmlns:a="http://schemas.openxmlformats.org/drawingml/2006/main" noGrp="1"/>
          </p:cNvSpPr>
          <p:nvPr/>
        </p:nvSpPr>
        <p:spPr>
          <a:xfrm xmlns:a="http://schemas.openxmlformats.org/drawingml/2006/main">
            <a:off x="4991100" y="5286375"/>
            <a:ext cx="2324100"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825">
                <a:solidFill>
                  <a:srgbClr val="50635C"/>
                </a:solidFill>
                <a:latin typeface="Arial"/>
                <a:ea typeface="Arial"/>
                <a:cs typeface="Arial"/>
              </a:defRPr>
            </a:pPr>
            <a:r>
              <a:rPr sz="825">
                <a:solidFill>
                  <a:srgbClr val="50635C"/>
                </a:solidFill>
                <a:latin typeface="Arial"/>
                <a:ea typeface="Arial"/>
                <a:cs typeface="Arial"/>
              </a:rPr>
              <a:t>Student collaboration illustration</a:t>
            </a:r>
          </a:p>
        </p:txBody>
      </p:sp>
    </p:spTree>
    <p:extLst>
      <p:ext uri="{BB962C8B-B14F-4D97-AF65-F5344CB8AC3E}">
        <p14:creationId xmlns:p14="http://schemas.microsoft.com/office/powerpoint/2010/main" val="20775413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2026-09-18T14:29:17.7320000Z</dcterms:created>
  <dcterms:modified xsi:type="dcterms:W3CDTF">2026-09-18T14:29:17.7320000Z</dcterms:modified>
</coreProperties>
</file>